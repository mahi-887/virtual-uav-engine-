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920240" cy="903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0515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942"/>
                </a:solidFill>
                <a:latin typeface="Arial"/>
              </a:defRPr>
            </a:pPr>
            <a:r>
              <a:t>ENGINE-TWIN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  <a:latin typeface="Arial"/>
              </a:defRPr>
            </a:pPr>
            <a:r>
              <a:t>AI-ENABLED DIGITAL TWIN FOR MALE UAV AERO</a:t>
            </a:r>
            <a:br/>
            <a:r>
              <a:t>PISTON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217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Problem Statement ID – </a:t>
            </a:r>
            <a:r>
              <a:rPr sz="1300" b="1">
                <a:solidFill>
                  <a:srgbClr val="0F2942"/>
                </a:solidFill>
                <a:latin typeface="Arial"/>
              </a:rPr>
              <a:t>SIH26054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Problem Statement Title – </a:t>
            </a:r>
            <a:r>
              <a:rPr sz="1300" b="0">
                <a:solidFill>
                  <a:srgbClr val="1E293B"/>
                </a:solidFill>
                <a:latin typeface="Arial"/>
              </a:rPr>
              <a:t>AI-Enabled Real-Time Digital Twin System for Health Monitoring, Fault Prediction and Mission Reliability Enhancement of Aero Piston Engines used in MALE UAVs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Theme – </a:t>
            </a:r>
            <a:r>
              <a:rPr sz="1300" b="1">
                <a:solidFill>
                  <a:srgbClr val="0F2942"/>
                </a:solidFill>
                <a:latin typeface="Arial"/>
              </a:rPr>
              <a:t>Robotics and Drones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PS Category – </a:t>
            </a:r>
            <a:r>
              <a:rPr sz="130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Team ID – </a:t>
            </a:r>
            <a:r>
              <a:rPr sz="1300" b="0">
                <a:solidFill>
                  <a:srgbClr val="1E293B"/>
                </a:solidFill>
                <a:latin typeface="Arial"/>
              </a:rPr>
              <a:t>[ENTER PORTAL TEAM ID]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  <a:latin typeface="Arial"/>
              </a:rPr>
              <a:t>Team Name – </a:t>
            </a:r>
            <a:r>
              <a:rPr sz="1300" b="0">
                <a:solidFill>
                  <a:srgbClr val="1E293B"/>
                </a:solidFill>
                <a:latin typeface="Arial"/>
              </a:rPr>
              <a:t>[ENTER REGISTERED TEAM NAME]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897880"/>
            <a:ext cx="1188720" cy="384048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DRDO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897880"/>
            <a:ext cx="146304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5897880"/>
            <a:ext cx="210312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ROBOTICS &amp; DRONES</a:t>
            </a:r>
          </a:p>
        </p:txBody>
      </p:sp>
      <p:pic>
        <p:nvPicPr>
          <p:cNvPr id="10" name="Picture 9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377440"/>
            <a:ext cx="3108960" cy="3321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92608"/>
            <a:ext cx="123444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34747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Arial"/>
              </a:rPr>
              <a:t>PROPOSED SOLUTION </a:t>
            </a:r>
            <a:r>
              <a:rPr sz="1900" b="0">
                <a:solidFill>
                  <a:srgbClr val="1E293B"/>
                </a:solidFill>
                <a:latin typeface="Arial"/>
              </a:rPr>
              <a:t>| Reactive Alarms → Predictive Engine Intelligence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783080" cy="838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7395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61872"/>
            <a:ext cx="1325880" cy="347472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SENSE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61872"/>
            <a:ext cx="1325880" cy="34747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61872"/>
            <a:ext cx="1325880" cy="34747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61872"/>
            <a:ext cx="1325880" cy="34747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EXPLAIN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61872"/>
            <a:ext cx="1325880" cy="34747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REPLAY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55648"/>
            <a:ext cx="54864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47088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PROPOSED SOLUTION ARCHITECTURE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Live Software Twin of MALE-UAV piston engine using real aerodynamic flight state + thermodynamic CAN telemetry.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Physics-Informed Neural Network (PINN) Baseline fused with Isolation Forest anomaly detection and Weibull RUL estimation (β=1.8, η=1500h).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Dual WebGL 3D Visualization: 60 FPS Engine Cutaway (crankshaft/valvetrain kinematics) + Full 3D UAV Flight Dynamics Viewport.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Interactive Causal Fault Injection: Live cylinder misfire, turbo overpressure boost, or oil loss triggers instant causal chain: Telemetry deviation → 3D Cylinder highlight → Speech alert → RUL degradation.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55448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5–10 Hz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212080"/>
            <a:ext cx="155448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60 FPS RENDER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212080"/>
            <a:ext cx="1554480" cy="320040"/>
          </a:xfrm>
          <a:prstGeom prst="roundRect">
            <a:avLst/>
          </a:prstGeom>
          <a:solidFill>
            <a:srgbClr val="EEF6FF"/>
          </a:solidFill>
          <a:ln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LOCAL + 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55648"/>
            <a:ext cx="53949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CLOSED-LOOP DIGITAL TWIN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423160"/>
            <a:ext cx="1554480" cy="841248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FLIGHT</a:t>
            </a:r>
            <a:br/>
            <a:r>
              <a:t>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423160"/>
            <a:ext cx="1554480" cy="841248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ENGINE</a:t>
            </a:r>
            <a:br/>
            <a:r>
              <a:t>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977639"/>
            <a:ext cx="1554480" cy="84124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  <a:latin typeface="Arial"/>
              </a:defRPr>
            </a:pPr>
            <a:r>
              <a:t>PHYSICS</a:t>
            </a:r>
            <a:br/>
            <a:r>
              <a:t>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3977639"/>
            <a:ext cx="1554480" cy="84124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AI / RUL</a:t>
            </a:r>
            <a:br/>
            <a:r>
              <a:t>ANALYTICS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3154680"/>
            <a:ext cx="1188720" cy="1051560"/>
          </a:xfrm>
          <a:prstGeom prst="ellipse">
            <a:avLst/>
          </a:prstGeom>
          <a:solidFill>
            <a:srgbClr val="0F2942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⚙</a:t>
            </a:r>
            <a:br/>
            <a:r>
              <a:t>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1E293B"/>
                </a:solidFill>
                <a:latin typeface="Arial"/>
              </a:defRPr>
            </a:pPr>
            <a:r>
              <a:t>One synchronized telemetry stream drives every view — no page reload, no separate demo logic.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33872"/>
            <a:ext cx="11064240" cy="438912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Reactive threshold alarm  →  continuous state estimation  →  early anomaly signal  →  actionable mission/maintenance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92608"/>
            <a:ext cx="123444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34747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Arial"/>
              </a:rPr>
              <a:t>TECHNICAL APPROACH </a:t>
            </a:r>
            <a:r>
              <a:rPr sz="1900" b="0">
                <a:solidFill>
                  <a:srgbClr val="1E293B"/>
                </a:solidFill>
                <a:latin typeface="Arial"/>
              </a:rPr>
              <a:t>| 5-Layer Modular Architecture &amp; Sensor Fusion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783080" cy="838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7395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148840" cy="16002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325880"/>
            <a:ext cx="384048" cy="384048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2801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FLIGHT</a:t>
            </a:r>
            <a:br/>
            <a: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Throttle • Altitude • Weather</a:t>
            </a:r>
            <a:br/>
            <a:r>
              <a:t>UAV kinematic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34440"/>
            <a:ext cx="2148840" cy="16002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98648" y="1325880"/>
            <a:ext cx="384048" cy="384048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2801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SYNTHETIC</a:t>
            </a:r>
            <a:br/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Physics-correlated RPM / CHT / EGT</a:t>
            </a:r>
            <a:br/>
            <a:r>
              <a:t>Oil • Fuel • Vib + fault 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34440"/>
            <a:ext cx="2148840" cy="16002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8928" y="1325880"/>
            <a:ext cx="384048" cy="38404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12801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A34A"/>
                </a:solidFill>
                <a:latin typeface="Arial"/>
              </a:defRPr>
            </a:pPr>
            <a:r>
              <a:t>DATA</a:t>
            </a:r>
            <a:br/>
            <a:r>
              <a:t>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Fixed JSON contract</a:t>
            </a:r>
            <a:br/>
            <a:r>
              <a:t>WebSocket / MQTT-ready (10 Hz)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234440"/>
            <a:ext cx="2148840" cy="16002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79208" y="1325880"/>
            <a:ext cx="384048" cy="38404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12801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DIGITAL TWIN</a:t>
            </a:r>
            <a:br/>
            <a:r>
              <a:t>+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PINN thermodynamic baseline</a:t>
            </a:r>
            <a:br/>
            <a:r>
              <a:t>Anomaly detection + Weibull RUL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234440"/>
            <a:ext cx="2148840" cy="16002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19488" y="1325880"/>
            <a:ext cx="384048" cy="384048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12801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3D +</a:t>
            </a:r>
            <a:br/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WebGL Live engine + Flight sim</a:t>
            </a:r>
            <a:br/>
            <a:r>
              <a:t>Charts + Speech audio alarms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297180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2801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Telemetry Channel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Sensor Hardware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Rotational Speed (RPM)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RPM Hall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In-Cylinder Pressure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Piezoelectric transducer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Physics-derived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Cylinder Head Temp (CHT)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K-type thermocouple (Cyl 1–4)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Exhaust Gas Temp (EGT)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Exhaust thermocouple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Physics-derived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Oil Pressure / Temp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Oil Transducer (PSI/°C)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3-Axis Vibration (RMS)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Piezo Accelerometer / IMU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Arial"/>
                        </a:defRPr>
                      </a:pPr>
                      <a:r>
                        <a:t>CAN-fused,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28V Bus Electrical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Voltage-divider ADC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Physics-derived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217920" y="2971800"/>
            <a:ext cx="53949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063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PHYSICS GOVERNING LAWS &amp; AI FORMULATION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29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Thermodynamic CHT: </a:t>
            </a:r>
            <a:r>
              <a:rPr sz="950">
                <a:solidFill>
                  <a:srgbClr val="1E293B"/>
                </a:solidFill>
              </a:rPr>
              <a:t>T_cyl = T_amb + 38 + (Load × 52) − (V_kts / 75) × 22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In-Cylinder Pressure: </a:t>
            </a:r>
            <a:r>
              <a:rPr sz="950">
                <a:solidFill>
                  <a:srgbClr val="1E293B"/>
                </a:solidFill>
              </a:rPr>
              <a:t>P_max = (MAP / 100) × (r_c)^1.35 × (2.4 + 1.2 × Throttle)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PINN Loss Function: </a:t>
            </a:r>
            <a:r>
              <a:rPr sz="950">
                <a:solidFill>
                  <a:srgbClr val="1E293B"/>
                </a:solidFill>
              </a:rPr>
              <a:t>Loss = MSE(actual, pred) + λ·|Q_comb − (W_shaft + Q_exh + Q_cool)|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Weibull RUL Model: </a:t>
            </a:r>
            <a:r>
              <a:rPr sz="950">
                <a:solidFill>
                  <a:srgbClr val="1E293B"/>
                </a:solidFill>
              </a:rPr>
              <a:t>R_t = exp( − (t / 1500)^1.8 ) → TTF countdown in seconds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Structural Thresholds: </a:t>
            </a:r>
            <a:r>
              <a:rPr sz="950">
                <a:solidFill>
                  <a:srgbClr val="1E293B"/>
                </a:solidFill>
              </a:rPr>
              <a:t>P_cyl &gt; 88.5 bar, CHT &gt; 138°C, Oil &lt; 25 psi trigger predictive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92608"/>
            <a:ext cx="123444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34747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Arial"/>
              </a:rPr>
              <a:t>PROTOTYPE WALKTHROUGH </a:t>
            </a:r>
            <a:r>
              <a:rPr sz="1900" b="0">
                <a:solidFill>
                  <a:srgbClr val="1E293B"/>
                </a:solidFill>
                <a:latin typeface="Arial"/>
              </a:rPr>
              <a:t>| Live System Screens &amp; Parameter Validation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783080" cy="838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7395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4_dual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603504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0060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Dual Viewport Live Build — 3D Flight Dynamics (Left) + 3D Engine Cutaway (Right) driven synchronously at 60 FPS by real-time physics telemetry. Features live RPM / CHT / EGT / Oil gauges and speech alert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234440"/>
            <a:ext cx="45720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4_engine_cuta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1298448"/>
            <a:ext cx="4425696" cy="1965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40880" y="3520440"/>
            <a:ext cx="2194560" cy="96012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356616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CAN BUS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386791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500 kbps · CAN 2.0B protocol</a:t>
            </a:r>
            <a:br/>
            <a:r>
              <a:t>6 CAN-fused + 3 physics-derived 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520440"/>
            <a:ext cx="2194560" cy="9601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356616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COMBUSTION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386791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Rotax 914 Turbo · 1211 cc · 84.5 kW</a:t>
            </a:r>
            <a:br/>
            <a:r>
              <a:t>Firing order 1-3-4-2 · AFR λ = 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526280"/>
            <a:ext cx="2194560" cy="960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457200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Arial"/>
              </a:defRPr>
            </a:pPr>
            <a:r>
              <a:t>LIVE RUL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48737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Nominal: 73% RUL (≈ 1089 h)</a:t>
            </a:r>
            <a:br/>
            <a:r>
              <a:t>Drops dynamically under fault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526280"/>
            <a:ext cx="2194560" cy="960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457200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A34A"/>
                </a:solidFill>
                <a:latin typeface="Arial"/>
              </a:defRPr>
            </a:pPr>
            <a:r>
              <a:t>SAFETY MARGINS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48737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88.5 bar max cyl pressure · 138°C CHT</a:t>
            </a:r>
            <a:br/>
            <a:r>
              <a:t>25 psi minimum oil pressure threshold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79008"/>
            <a:ext cx="11064240" cy="438912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Live Working Demonstration: https://mahi-887.github.io/Virtual-UAV-engine-/  |  Zero Installation, 100% WebGL Accessible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92608"/>
            <a:ext cx="123444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34747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Arial"/>
              </a:rPr>
              <a:t>FEASIBILITY &amp; VIABILITY </a:t>
            </a:r>
            <a:r>
              <a:rPr sz="1900" b="0">
                <a:solidFill>
                  <a:srgbClr val="1E293B"/>
                </a:solidFill>
                <a:latin typeface="Arial"/>
              </a:rPr>
              <a:t>| Challenges, Mitigations &amp; Phased Deployment Path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783080" cy="838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7395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1645920" cy="27432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SOFTWARE-ONLY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No physical engine/sensors required for prototype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1325880"/>
            <a:ext cx="1645920" cy="2743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WebSocket target 5–10 Hz; render loop decoupled for smooth 60 FPS 3D.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7648" y="1325880"/>
            <a:ext cx="1645920" cy="2743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DROP-IN DATA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Synthetic generator → later CAN/ECU/FADEC without downstream rewrite.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234440"/>
            <a:ext cx="26060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62288" y="1325880"/>
            <a:ext cx="1645920" cy="274320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DEPLOYABLE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Docker Compose + GitHub Pages for repeatable local demo &amp; instant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23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CHALLENGES → MITIGATION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78892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6217920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to Demo / Validation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 Built into Design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No aero-engine run-to-failure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Synthetic validation can overstate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Label synthetic results honestly; validate physics + residual behavior first; replace source when real ECU/CAN data becomes available.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RUL needs a defined end-of-life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RUL can become a misleading single number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Use degradation trend + explicit condition threshold (Weibull hazard rate); move to confidence-bounded RUL when real flight history is available.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Faults may look like sensor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False maintenance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Compare multi-sensor relationships + physics residuals; separate sensor drift (EKF innovation covariance) from engine-state divergence.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4892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PHASED PATH TO 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5349240"/>
            <a:ext cx="411480" cy="4114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Synthetic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Physics engine + synthetic CAN data generator validating AI pipelines.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52578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53128" y="5349240"/>
            <a:ext cx="411480" cy="4114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HIL + ECU/CAN Feed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Hardware-in-the-loop testbed feeding live serial/CAN packets into twin.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25780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47888" y="5349240"/>
            <a:ext cx="411480" cy="41148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Flight-Test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Onboard telemetry downlink connected to Ground Control Station twin.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92608"/>
            <a:ext cx="1234440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519" y="34747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Arial"/>
              </a:rPr>
              <a:t>IMPACT &amp; BENEFITS </a:t>
            </a:r>
            <a:r>
              <a:rPr sz="1900" b="0">
                <a:solidFill>
                  <a:srgbClr val="1E293B"/>
                </a:solidFill>
                <a:latin typeface="Arial"/>
              </a:rPr>
              <a:t>| Predictive Mission Reliability &amp; Demo Walkthrough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82880"/>
            <a:ext cx="1783080" cy="838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6473952"/>
            <a:ext cx="5760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0284C7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E3A8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148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LIVE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Engine + flight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34440"/>
            <a:ext cx="2148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2801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TWIN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6459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Expected vs observed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34440"/>
            <a:ext cx="2148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20640" y="1298448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2801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EARLY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6459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Anomaly / trend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234440"/>
            <a:ext cx="2148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20" y="1298448"/>
            <a:ext cx="320040" cy="3200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2801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6459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Voice alert / pilot advisory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234440"/>
            <a:ext cx="2148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0" y="1298448"/>
            <a:ext cx="320040" cy="3200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28016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A34A"/>
                </a:solidFill>
                <a:latin typeface="Arial"/>
              </a:defRPr>
            </a:pPr>
            <a:r>
              <a:t>REPLAY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6459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Post-flight learning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468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DEFENSE STAKEHOLDER IMPACT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834640"/>
            <a:ext cx="1920240" cy="47548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UAV OPERATOR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2834640"/>
            <a:ext cx="32004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Live health status, tactical fault voice alerts, zero sensory overload.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429000"/>
            <a:ext cx="1920240" cy="475488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PROPULSION CREW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3429000"/>
            <a:ext cx="32004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Condition-based overhaul, RUL tracking, black-box incident replay.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23360"/>
            <a:ext cx="1920240" cy="47548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TEST &amp;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023360"/>
            <a:ext cx="32004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Repeatable fault injection (misfire, overpressure, oil loss) &amp; border weather.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617720"/>
            <a:ext cx="1920240" cy="475488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DEFENSE FLEET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4617720"/>
            <a:ext cx="32004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293B"/>
                </a:solidFill>
                <a:latin typeface="Arial"/>
              </a:defRPr>
            </a:pPr>
            <a:r>
              <a:t>Common CAN digital twin standard for TAPAS &amp; Rustom-II UAV squadrons.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468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PROTOTYPE → 5-STEP DEMO 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834640"/>
            <a:ext cx="5394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09360" y="2907792"/>
            <a:ext cx="274320" cy="27432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87121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A580C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2871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Engine transitions OFF → RUNNING (Idle 2000 RPM, nominal baseline).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310128"/>
            <a:ext cx="5394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09360" y="3383280"/>
            <a:ext cx="274320" cy="27432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34670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THROTTLE 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33467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Press W key: RPM / CHT / EGT / fuel rise; drone climbs into tactical flight.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85615"/>
            <a:ext cx="5394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09360" y="3858767"/>
            <a:ext cx="274320" cy="27432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822191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FAULT INJECT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Inject Misfire / Overboost: cylinder pressure spikes/drops; vibration jumps.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261104"/>
            <a:ext cx="5394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09360" y="4334256"/>
            <a:ext cx="274320" cy="27432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2976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Arial"/>
              </a:defRPr>
            </a:pPr>
            <a:r>
              <a:t>3D VISUALIZE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Affected cylinder highlights red in 3D cutaway; voice audio warning sounds.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736592"/>
            <a:ext cx="5394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09360" y="4809744"/>
            <a:ext cx="274320" cy="27432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477316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Arial"/>
              </a:defRPr>
            </a:pPr>
            <a:r>
              <a:t>PREDICT &amp; 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4773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Prognostic banner shows TTF countdown; Weibull RUL drops; advisory issued.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303520"/>
            <a:ext cx="2606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Predictive: Trend before threshold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83280" y="5303520"/>
            <a:ext cx="2606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6A34A"/>
                </a:solidFill>
                <a:latin typeface="Arial"/>
              </a:defRPr>
            </a:pPr>
            <a:r>
              <a:t>Transparent: Physics + AI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5303520"/>
            <a:ext cx="2606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A580C"/>
                </a:solidFill>
                <a:latin typeface="Arial"/>
              </a:defRPr>
            </a:pPr>
            <a:r>
              <a:t>Reusable: Synthetic → CAN/ECU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52560" y="5303520"/>
            <a:ext cx="26060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C2626"/>
                </a:solidFill>
                <a:latin typeface="Arial"/>
              </a:defRPr>
            </a:pPr>
            <a:r>
              <a:t>Operational: Simulate + Replay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5833872"/>
            <a:ext cx="11064240" cy="438912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JUDGE TAKEAWAY: CAUSE → EFFECT (Fully Transparent Closed-Loop Digital Twin)  |  PS SIH26054 DRDO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