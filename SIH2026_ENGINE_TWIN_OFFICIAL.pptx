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920240" cy="903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0515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942"/>
                </a:solidFill>
                <a:latin typeface="Arial"/>
              </a:defRPr>
            </a:pPr>
            <a:r>
              <a:t>ENGINE-TWIN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  <a:latin typeface="Arial"/>
              </a:defRPr>
            </a:pPr>
            <a:r>
              <a:t>AI-ENABLED DIGITAL TWIN FOR MALE UAV AERO</a:t>
            </a:r>
            <a:br/>
            <a:r>
              <a:t>PISTON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217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Problem Statement ID – </a:t>
            </a:r>
            <a:r>
              <a:rPr sz="1300" b="1">
                <a:solidFill>
                  <a:srgbClr val="0F2942"/>
                </a:solidFill>
                <a:latin typeface="Arial"/>
              </a:rPr>
              <a:t>SIH26054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Problem Statement Title – </a:t>
            </a:r>
            <a:r>
              <a:rPr sz="1300" b="0">
                <a:solidFill>
                  <a:srgbClr val="1E293B"/>
                </a:solidFill>
                <a:latin typeface="Arial"/>
              </a:rPr>
              <a:t>AI-Enabled Real-Time Digital Twin System for Health Monitoring, Fault Prediction and Mission Reliability Enhancement of Aero Piston Engines used in MALE UAVs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Theme – </a:t>
            </a:r>
            <a:r>
              <a:rPr sz="1300" b="1">
                <a:solidFill>
                  <a:srgbClr val="0F2942"/>
                </a:solidFill>
                <a:latin typeface="Arial"/>
              </a:rPr>
              <a:t>Robotics and Drones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PS Category – </a:t>
            </a:r>
            <a:r>
              <a:rPr sz="130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Team ID – </a:t>
            </a:r>
            <a:r>
              <a:rPr sz="1300" b="0">
                <a:solidFill>
                  <a:srgbClr val="1E293B"/>
                </a:solidFill>
                <a:latin typeface="Arial"/>
              </a:rPr>
              <a:t>[ENTER PORTAL TEAM ID]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Team Name – </a:t>
            </a:r>
            <a:r>
              <a:rPr sz="1300" b="0">
                <a:solidFill>
                  <a:srgbClr val="1E293B"/>
                </a:solidFill>
                <a:latin typeface="Arial"/>
              </a:rPr>
              <a:t>[ENTER REGISTERED TEAM NAME]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897880"/>
            <a:ext cx="1188720" cy="384048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DRDO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897880"/>
            <a:ext cx="146304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5897880"/>
            <a:ext cx="210312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ROBOTICS &amp; DRONES</a:t>
            </a:r>
          </a:p>
        </p:txBody>
      </p:sp>
      <p:pic>
        <p:nvPicPr>
          <p:cNvPr id="10" name="Picture 9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377440"/>
            <a:ext cx="3108960" cy="3321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ENGINE-TWIN </a:t>
            </a:r>
            <a:r>
              <a:rPr sz="2000" b="0">
                <a:solidFill>
                  <a:srgbClr val="1E293B"/>
                </a:solidFill>
                <a:latin typeface="Arial"/>
              </a:rPr>
              <a:t>| Reactive Alarms → Predictive Engine Intelligence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325880" cy="365760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80160"/>
            <a:ext cx="1325880" cy="36576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1325880" cy="36576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80160"/>
            <a:ext cx="1325880" cy="3657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EXPLAIN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1325880" cy="36576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83080"/>
            <a:ext cx="5486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74519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E3A8A"/>
                </a:solidFill>
                <a:latin typeface="Arial"/>
              </a:defRPr>
            </a:pPr>
            <a:r>
              <a:t>PROPOSED SOLUTION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Create a live software twin of a MALE-UAV piston engine using real-world flight state + physics telemetry.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Fuse a physics-informed thermodynamic baseline with Isolation Forest anomaly detection &amp; Weibull RUL estimation (β=1.8, η=1500 h).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Mirror real-time telemetry into a 3D cutaway engine + UAV flight simulator (WebGL Three.js) for operator-ready spatial visualization.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Inject in-flight faults (misfire, overpressure boost, oil loss) and demonstrate immediate causal chain: telemetry deviation → 3D cylinder alert → prognostic hazard → RUL degradation.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55448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5–10 Hz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120640"/>
            <a:ext cx="155448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60 FPS RENDER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120640"/>
            <a:ext cx="155448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LOCAL + 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53949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CLOSED-LOOP DIGITAL TWIN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468880"/>
            <a:ext cx="1554480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FLIGHT</a:t>
            </a:r>
            <a:br/>
            <a:r>
              <a:t>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468880"/>
            <a:ext cx="1554480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ENGINE</a:t>
            </a:r>
            <a:br/>
            <a:r>
              <a:t>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931920"/>
            <a:ext cx="1554480" cy="822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  <a:latin typeface="Arial"/>
              </a:defRPr>
            </a:pPr>
            <a:r>
              <a:t>PHYSICS</a:t>
            </a:r>
            <a:br/>
            <a:r>
              <a:t>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3931920"/>
            <a:ext cx="1554480" cy="8229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AI / RUL</a:t>
            </a:r>
            <a:br/>
            <a:r>
              <a:t>ANALYTICS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3154680"/>
            <a:ext cx="1188720" cy="1005840"/>
          </a:xfrm>
          <a:prstGeom prst="ellipse">
            <a:avLst/>
          </a:prstGeom>
          <a:solidFill>
            <a:srgbClr val="0F2942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⚙</a:t>
            </a:r>
            <a:br/>
            <a:r>
              <a:t>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1E293B"/>
                </a:solidFill>
                <a:latin typeface="Arial"/>
              </a:defRPr>
            </a:pPr>
            <a:r>
              <a:t>One synchronized telemetry stream drives every view — no page reload, no separate demo logic.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64240" cy="438912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Reactive threshold alarm  →  continuous state estimation  →  early anomaly signal  →  actionable mission/maintenance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TECHNICAL APPROACH </a:t>
            </a:r>
            <a:r>
              <a:rPr sz="2000" b="0">
                <a:solidFill>
                  <a:srgbClr val="1E293B"/>
                </a:solidFill>
                <a:latin typeface="Arial"/>
              </a:rPr>
              <a:t>| Modular &amp; Source-Agnostic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5-LAYER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148840" cy="16916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691640"/>
            <a:ext cx="411480" cy="4114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459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FLIGHT</a:t>
            </a:r>
            <a:br/>
            <a: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Throttle • Altitude • Weather</a:t>
            </a:r>
            <a:br/>
            <a:r>
              <a:t>UAV kinematic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00200"/>
            <a:ext cx="2148840" cy="16916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98648" y="1691640"/>
            <a:ext cx="411480" cy="4114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459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SYNTHETIC</a:t>
            </a:r>
            <a:br/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Physics-correlated RPM / CHT / EGT</a:t>
            </a:r>
            <a:br/>
            <a:r>
              <a:t>Oil • Fuel • Vib + fault injection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00200"/>
            <a:ext cx="2148840" cy="1691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38928" y="1691640"/>
            <a:ext cx="411480" cy="4114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6459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A34A"/>
                </a:solidFill>
                <a:latin typeface="Arial"/>
              </a:defRPr>
            </a:pPr>
            <a:r>
              <a:t>DATA</a:t>
            </a:r>
            <a:br/>
            <a:r>
              <a:t>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Fixed JSON contract</a:t>
            </a:r>
            <a:br/>
            <a:r>
              <a:t>WebSocket / MQTT-ready (10 Hz)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600200"/>
            <a:ext cx="2148840" cy="1691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79208" y="1691640"/>
            <a:ext cx="411480" cy="41148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6459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A580C"/>
                </a:solidFill>
                <a:latin typeface="Arial"/>
              </a:defRPr>
            </a:pPr>
            <a:r>
              <a:t>DIGITAL TWIN</a:t>
            </a:r>
            <a:br/>
            <a:r>
              <a:t>+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PINN thermodynamic baseline</a:t>
            </a:r>
            <a:br/>
            <a:r>
              <a:t>Anomaly detection + Weibull RUL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600200"/>
            <a:ext cx="2148840" cy="169164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1691640"/>
            <a:ext cx="411480" cy="41148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6459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Arial"/>
              </a:defRPr>
            </a:pPr>
            <a:r>
              <a:t>3D +</a:t>
            </a:r>
            <a:br/>
            <a: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WebGL Live engine + Flight sim</a:t>
            </a:r>
            <a:br/>
            <a:r>
              <a:t>Charts + Speech audio alarms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74720"/>
            <a:ext cx="53949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FIXED TELEMETRY CONTRACT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77639"/>
            <a:ext cx="5029200" cy="14173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E293B"/>
                </a:solidFill>
                <a:latin typeface="Consolas"/>
              </a:defRPr>
            </a:pPr>
            <a:r>
              <a:t>{</a:t>
            </a:r>
            <a:br/>
            <a:r>
              <a:t>  timestamp, engine_status, rpm, cht_c[4], egt_c,</a:t>
            </a:r>
            <a:br/>
            <a:r>
              <a:t>  oil_pressure_psi, oil_temp_c, fuel_flow_lph,</a:t>
            </a:r>
            <a:br/>
            <a:r>
              <a:t>  vibration_rms_g, battery_voltage_v, fault_active,</a:t>
            </a:r>
            <a:br/>
            <a:r>
              <a:t>  fault_type, flight_state{throttle, altitude, weather}</a:t>
            </a:r>
            <a:br/>
            <a:r>
              <a:t>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32120"/>
            <a:ext cx="1463040" cy="34747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SOURCE SWAPPABLE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5532120"/>
            <a:ext cx="1463040" cy="34747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JSON CONTRACT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5532120"/>
            <a:ext cx="1463040" cy="34747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WEBSOCKET 10Hz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474720"/>
            <a:ext cx="53949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PHYSICS-INFORMED SYNTHETIC TELEMETRY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93192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3A8A"/>
                </a:solidFill>
              </a:rPr>
              <a:t>RPM        </a:t>
            </a:r>
            <a:r>
              <a:rPr sz="1000">
                <a:solidFill>
                  <a:srgbClr val="1E293B"/>
                </a:solidFill>
              </a:rPr>
              <a:t>800 + throttle × 5000 × (P_amb / 101.3)    </a:t>
            </a:r>
            <a:r>
              <a:rPr b="1" sz="950">
                <a:solidFill>
                  <a:srgbClr val="64748B"/>
                </a:solidFill>
              </a:rPr>
              <a:t>Rotational Inertia</a:t>
            </a:r>
          </a:p>
          <a:p>
            <a:r>
              <a:rPr b="1" sz="1000">
                <a:solidFill>
                  <a:srgbClr val="1E3A8A"/>
                </a:solidFill>
              </a:rPr>
              <a:t>CHT        </a:t>
            </a:r>
            <a:r>
              <a:rPr sz="1000">
                <a:solidFill>
                  <a:srgbClr val="1E293B"/>
                </a:solidFill>
              </a:rPr>
              <a:t>T_amb + 38 + (Load × 52) − RamAirCooling   </a:t>
            </a:r>
            <a:r>
              <a:rPr b="1" sz="950">
                <a:solidFill>
                  <a:srgbClr val="64748B"/>
                </a:solidFill>
              </a:rPr>
              <a:t>Thermodynamic Heat</a:t>
            </a:r>
          </a:p>
          <a:p>
            <a:r>
              <a:rPr b="1" sz="1000">
                <a:solidFill>
                  <a:srgbClr val="1E3A8A"/>
                </a:solidFill>
              </a:rPr>
              <a:t>EGT        </a:t>
            </a:r>
            <a:r>
              <a:rPr sz="1000">
                <a:solidFill>
                  <a:srgbClr val="1E293B"/>
                </a:solidFill>
              </a:rPr>
              <a:t>360 + (Load × 320) + MixtureResidual       </a:t>
            </a:r>
            <a:r>
              <a:rPr b="1" sz="950">
                <a:solidFill>
                  <a:srgbClr val="64748B"/>
                </a:solidFill>
              </a:rPr>
              <a:t>Combustion Gas</a:t>
            </a:r>
          </a:p>
          <a:p>
            <a:r>
              <a:rPr b="1" sz="1000">
                <a:solidFill>
                  <a:srgbClr val="1E3A8A"/>
                </a:solidFill>
              </a:rPr>
              <a:t>Oil PSI    </a:t>
            </a:r>
            <a:r>
              <a:rPr sz="1000">
                <a:solidFill>
                  <a:srgbClr val="1E293B"/>
                </a:solidFill>
              </a:rPr>
              <a:t>28 + (RPM / 5800) × 42                     </a:t>
            </a:r>
            <a:r>
              <a:rPr b="1" sz="950">
                <a:solidFill>
                  <a:srgbClr val="64748B"/>
                </a:solidFill>
              </a:rPr>
              <a:t>Hydrodynamic Lube</a:t>
            </a:r>
          </a:p>
          <a:p>
            <a:r>
              <a:rPr b="1" sz="1000">
                <a:solidFill>
                  <a:srgbClr val="1E3A8A"/>
                </a:solidFill>
              </a:rPr>
              <a:t>Fuel Flow  </a:t>
            </a:r>
            <a:r>
              <a:rPr sz="1000">
                <a:solidFill>
                  <a:srgbClr val="1E293B"/>
                </a:solidFill>
              </a:rPr>
              <a:t>1.8 + (Power_kW × 0.32) L/h                </a:t>
            </a:r>
            <a:r>
              <a:rPr b="1" sz="950">
                <a:solidFill>
                  <a:srgbClr val="64748B"/>
                </a:solidFill>
              </a:rPr>
              <a:t>BSFC Consumption</a:t>
            </a:r>
          </a:p>
          <a:p>
            <a:r>
              <a:rPr b="1" sz="1000">
                <a:solidFill>
                  <a:srgbClr val="1E3A8A"/>
                </a:solidFill>
              </a:rPr>
              <a:t>Vibration  </a:t>
            </a:r>
            <a:r>
              <a:rPr sz="1000">
                <a:solidFill>
                  <a:srgbClr val="1E293B"/>
                </a:solidFill>
              </a:rPr>
              <a:t>0.25 + (RPM / 5800) × 0.85 + FaultTerm     </a:t>
            </a:r>
            <a:r>
              <a:rPr b="1" sz="950">
                <a:solidFill>
                  <a:srgbClr val="64748B"/>
                </a:solidFill>
              </a:rPr>
              <a:t>Structural Health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EA580C"/>
                </a:solidFill>
              </a:rPr>
              <a:t>Analytics Layer: PINN Thermodynamic Loss + Isolation Forest + Weibull RUL (β=1.8, η=1500h)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PROTOTYPE WALKTHROUGH </a:t>
            </a:r>
            <a:r>
              <a:rPr sz="2000" b="0">
                <a:solidFill>
                  <a:srgbClr val="1E293B"/>
                </a:solidFill>
                <a:latin typeface="Arial"/>
              </a:rPr>
              <a:t>| Live Screens from the Working Build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Captured directly from the running prototype — 7 live views (Overview &amp; Flight, Dual View, Drone Flight Simulator, 3D Engine Cutaway, AI/ML &amp; PINN Analytics, Mission Replay) driven by one shared telemetry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2179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4_dual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03504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6235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Dual View — Flight Simulator + 3D Engine Cutaway side-by-side. Live RPM / CHT / EGT / Oil / Vibration telemetry, PINN health layer (Anomaly Score, RUL, Fuel, Airframe Integrity) and CAN sensor-fusion status, all fed from one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645920"/>
            <a:ext cx="45720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4_engine_cuta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1719072"/>
            <a:ext cx="4425696" cy="1728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3D Engine Cutaway — PINN loss formulation, crankshaft/valvetrain kinematics, combustion-chamber physics, mission-replay scenarios.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114800"/>
            <a:ext cx="45720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4_flight_s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4187952"/>
            <a:ext cx="4425696" cy="1728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0" y="6035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Drone Flight Simulator (Game Mode) — manual throttle/turn/takeoff/land controls drive the same physics engine as the twin.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VALIDATION NUMBERS </a:t>
            </a:r>
            <a:r>
              <a:rPr sz="2000" b="0">
                <a:solidFill>
                  <a:srgbClr val="1E293B"/>
                </a:solidFill>
                <a:latin typeface="Arial"/>
              </a:rPr>
              <a:t>| Sensor Fusion &amp; Physics-Informed AI Parameters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Left: 10 live telemetry channels and real-world sensor mapping. Right: exact combustion, fusion, and AI parameters running in the build.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58521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463040"/>
              </a:tblGrid>
              <a:tr h="407323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Telemetry Channel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Real-World Sensor Equivalent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Rotational Speed (RPM)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RPM Hall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In-Cylinder Peak Pressure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Piezoelectric pressure transducer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Physics-model derived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Cylinder Head Temp (CHT)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CHT Thermocouple (Cyl 1–4)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Exhaust Gas Temp (EGT)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K-type thermocouple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Physics-model derived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Oil Pressure (Lubrication)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Oil Transducer (PSI)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Fuel Consumption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Fuel Flowmeter / Float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3-Axis Vibration (RMS)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Piezo Accelerometer / 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28V Bus Electrical Potential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Voltage-divider ADC channel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Physics-model derived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Alternator Generator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Hall-effect current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Physics-model derived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Airframe Proximity / Pitot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Pitot tube + GPWS Radar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1600200"/>
            <a:ext cx="2423160" cy="13716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7335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CAN BUS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11680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500 kbps · CAN 2.0B protocol</a:t>
            </a:r>
            <a:br/>
            <a:r>
              <a:t>6 CAN-fused channels + 3 physics-derived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00200"/>
            <a:ext cx="2423160" cy="13716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7335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COMBUSTION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Firing order 1-3-4-2 · CR 9.0:1</a:t>
            </a:r>
            <a:br/>
            <a:r>
              <a:t>Spark 22° BTDC · AFR λ = 1.0 (Rotax)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54680"/>
            <a:ext cx="2423160" cy="13716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2278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PINN LOSS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566160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Loss = MSE(actual, pred) +</a:t>
            </a:r>
            <a:br/>
            <a:r>
              <a:t>λ·|Q_comb − (W_shaft+Q_exh+Q_cool)|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154680"/>
            <a:ext cx="2423160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22783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LIVE RUL READING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566160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Nominal flight: 73% RUL (≈ 1089 h)</a:t>
            </a:r>
            <a:br/>
            <a:r>
              <a:t>Degrades dynamically under fault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709160"/>
            <a:ext cx="2423160" cy="13716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7823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942"/>
                </a:solidFill>
                <a:latin typeface="Arial"/>
              </a:defRPr>
            </a:pPr>
            <a:r>
              <a:t>STRUCTURAL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120640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88.5 bar max cylinder pressure · 138° C CHT</a:t>
            </a:r>
            <a:br/>
            <a:r>
              <a:t>25 psi minimum oil pressure threshold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709160"/>
            <a:ext cx="2423160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7823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REFERENCE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120640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4-cyl boxer · 1211 cc · 79.5×61 mm</a:t>
            </a:r>
            <a:br/>
            <a:r>
              <a:t>Rotax-914 class · 84.5 kW rated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FEASIBILITY &amp; VIABILITY </a:t>
            </a:r>
            <a:r>
              <a:rPr sz="2000" b="0">
                <a:solidFill>
                  <a:srgbClr val="1E293B"/>
                </a:solidFill>
                <a:latin typeface="Arial"/>
              </a:rPr>
              <a:t>| Phased Path to Real Data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1645920" cy="27432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SOFTWARE-ONLY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No physical engine/sensors required for prototype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1325880"/>
            <a:ext cx="1645920" cy="2743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WebSocket target 5–10 Hz; render loop decoupled for smooth 60 FPS 3D.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7648" y="1325880"/>
            <a:ext cx="1645920" cy="2743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DROP-IN DATA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Synthetic generator → later CAN/ECU/FADEC without downstream rewrite.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62288" y="1325880"/>
            <a:ext cx="1645920" cy="274320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DEPLOYABLE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Docker Compose + GitHub Pages for repeatable local demo &amp; instant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CHALLENGES → MITIGATION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83464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6217920"/>
              </a:tblGrid>
              <a:tr h="4800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to Demo / Validation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 Built into Design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No aero-engine run-to-failure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Synthetic validation can overstate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Label synthetic results honestly; validate physics + residual behavior first; replace source when real ECU/CAN data becomes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RUL needs a defined end-of-life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RUL can become a misleading single number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Use degradation trend + explicit condition threshold (Weibull hazard rate); move to confidence-bounded RUL when real flight history is available.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Faults may look like sensor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False maintenance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Compare multi-sensor relationships + physics residuals; separate sensor drift (EKF innovation covariance) from engine-state divergence.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4892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PHASED PATH TO 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5349240"/>
            <a:ext cx="411480" cy="4114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Synthetic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Physics engine + synthetic CAN data generator validating AI pipelines.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52578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53128" y="5349240"/>
            <a:ext cx="411480" cy="4114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HIL + ECU/CAN Feed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Hardware-in-the-loop testbed feeding live serial/CAN packets into twin.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2578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47888" y="5349240"/>
            <a:ext cx="411480" cy="41148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Flight-Test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Onboard telemetry downlink connected to Ground Control Station twin.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IMPACT &amp; BENEFITS </a:t>
            </a:r>
            <a:r>
              <a:rPr sz="2000" b="0">
                <a:solidFill>
                  <a:srgbClr val="1E293B"/>
                </a:solidFill>
                <a:latin typeface="Arial"/>
              </a:rPr>
              <a:t>| Predictive Mission Reliability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FROM TELEMETRY TO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148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691640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459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LIVE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Engine + flight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00200"/>
            <a:ext cx="2148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98648" y="1691640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459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TWIN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Expected vs observed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00200"/>
            <a:ext cx="2148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38928" y="1691640"/>
            <a:ext cx="347472" cy="347472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6459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A580C"/>
                </a:solidFill>
                <a:latin typeface="Arial"/>
              </a:defRPr>
            </a:pPr>
            <a:r>
              <a:t>EARLY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Anomaly / trend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600200"/>
            <a:ext cx="2148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79208" y="1691640"/>
            <a:ext cx="347472" cy="347472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6459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Voice alert / pilot advisory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600200"/>
            <a:ext cx="2148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1691640"/>
            <a:ext cx="347472" cy="34747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6459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A34A"/>
                </a:solidFill>
                <a:latin typeface="Arial"/>
              </a:defRPr>
            </a:pPr>
            <a:r>
              <a:t>REPLAY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Post-flight learning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WHO BENEFITS + HOW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383280"/>
            <a:ext cx="2560320" cy="47548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UAV OPERATOR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383280"/>
            <a:ext cx="8366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Live health status, tactical fault voice alerts, mission-state spatial awareness without sensory overload.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2560320" cy="475488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PROPULSION / MAINTENANCE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3977639"/>
            <a:ext cx="8366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Physics-derived degradation trend, RUL tracking, black-box replay and condition-based overhaul planning.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2560320" cy="47548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TEST &amp;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4572000"/>
            <a:ext cx="8366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Repeatable fault injection (misfire, overpressure, oil loss) and simulated border weather scenarios.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66360"/>
            <a:ext cx="2560320" cy="475488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PROGRAM / DEFENSE FLEET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5166360"/>
            <a:ext cx="8366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Standardized CAN telemetry contract for multi-aircraft integration across TAPAS and Rustom-II fleets.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26060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Predictive: Trend before threshold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5806440"/>
            <a:ext cx="26060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A34A"/>
                </a:solidFill>
                <a:latin typeface="Arial"/>
              </a:defRPr>
            </a:pPr>
            <a:r>
              <a:t>Transparent: Physics +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806440"/>
            <a:ext cx="26060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Reusable: Synthetic → CAN/ECU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5806440"/>
            <a:ext cx="26060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  <a:latin typeface="Arial"/>
              </a:defRPr>
            </a:pPr>
            <a:r>
              <a:t>Operational: Simulate + Replay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128016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65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3A8A"/>
                </a:solidFill>
                <a:latin typeface="Arial"/>
              </a:rPr>
              <a:t>RESEARCH &amp; REFERENCES </a:t>
            </a:r>
            <a:r>
              <a:rPr sz="2000" b="0">
                <a:solidFill>
                  <a:srgbClr val="1E293B"/>
                </a:solidFill>
                <a:latin typeface="Arial"/>
              </a:rPr>
              <a:t>| SIH Requirement + Prototype Evidence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86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REFERENCE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1907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[1] SIH 2026 Problem Statement SIH26054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DRDO • Robotics &amp; Drones • Software</a:t>
            </a:r>
            <a:br/>
            <a:r>
              <a:t>Official problem scope: digital twin, health monitoring, fault prediction, RUL, simulation/replay and real-time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035808"/>
            <a:ext cx="365760" cy="36576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9923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[2] Prototype: UAV Engine Digital Twin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Local &amp; Live working prototype provided with submission.</a:t>
            </a:r>
            <a:br/>
            <a:r>
              <a:t>Demonstrates flight view, 3D engine cutaway, 12-sensor telemetry panel, sensor status matrix, anomaly/RUL estimation, predictive warning banner and live fault injection.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53035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4407408"/>
            <a:ext cx="365760" cy="36576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[3] Technology Stack 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Project build specification supplied by team.</a:t>
            </a:r>
            <a:br/>
            <a:r>
              <a:t>Python/NumPy • FastAPI • WebSocket/MQTT • Three.js WebGL • Chart.js • Docker. Working prototype includes PINN thermodynamic loss engine + scikit-learn analytics track (Isolation Forest, Weibull RUL) submitted alongside the WebGL build.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PROTOTYPE → DEMO 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539496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27648" y="1773936"/>
            <a:ext cx="438912" cy="438912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7190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Engine transitions OFF → RUNNING (Idle 2000 RPM, nominal baseline).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39496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7648" y="2596896"/>
            <a:ext cx="438912" cy="43891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5420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THROTTLE 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788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Press W key: RPM / CHT / EGT / fuel flow / vibration rise; drone climbs into tactical flight.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91840"/>
            <a:ext cx="539496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7648" y="3419856"/>
            <a:ext cx="438912" cy="438912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3649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FAULT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611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Inject Misfire / Overpressure: cylinder pressure spikes or drops; vibration RMS jumps.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114800"/>
            <a:ext cx="539496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27648" y="4242816"/>
            <a:ext cx="438912" cy="438912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187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3D VISUALIZE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434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Affected cylinder highlights red in 3D cutaway; tactile speech audio warning sounds.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937760"/>
            <a:ext cx="539496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27648" y="5065776"/>
            <a:ext cx="438912" cy="43891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010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PREDICT &amp; ADVISE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257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Prognostic banner displays TTF countdown; Weibull RUL drops; safe pilot advisory issued.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779008"/>
            <a:ext cx="5394960" cy="457200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JUDGE TAKEAWAY: CAUSE → EFFECT (Fully Transparent Closed-Loop Digital Twin)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Arial"/>
              </a:defRPr>
            </a:pPr>
            <a:r>
              <a:t>SIH Problem Statement: https://sih2026.vuce.in/ps/SIH26054</a:t>
            </a:r>
            <a:br/>
            <a:r>
              <a:t>Live Prototype: https://mahi-887.github.io/Virtual-UAV-engine-/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